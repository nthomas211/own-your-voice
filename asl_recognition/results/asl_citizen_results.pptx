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12192000"/>
  <p:embeddedFontLst>
    <p:embeddedFont>
      <p:font typeface="Play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Y0Nw0F98bkbDN+zqOz62SWMYt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8FA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2"/>
          <p:cNvSpPr/>
          <p:nvPr/>
        </p:nvSpPr>
        <p:spPr>
          <a:xfrm>
            <a:off x="411480" y="6473952"/>
            <a:ext cx="3840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ASL Citizen 32-class pilot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2"/>
          <p:cNvSpPr/>
          <p:nvPr/>
        </p:nvSpPr>
        <p:spPr>
          <a:xfrm>
            <a:off x="7543800" y="6473952"/>
            <a:ext cx="4160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Source: BENCHMARK_RESULTS.md + MODEL_FREEZE.md</a:t>
            </a:r>
            <a:endParaRPr b="0" i="0" sz="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"/>
          <p:cNvSpPr/>
          <p:nvPr/>
        </p:nvSpPr>
        <p:spPr>
          <a:xfrm>
            <a:off x="658368" y="1234440"/>
            <a:ext cx="53035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ASL Citizen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658368" y="1901952"/>
            <a:ext cx="8046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D2FE"/>
              </a:buClr>
              <a:buSzPts val="2800"/>
              <a:buFont typeface="Play"/>
              <a:buNone/>
            </a:pPr>
            <a:r>
              <a:rPr b="0" i="0" lang="en-US" sz="2800" u="none" cap="none" strike="noStrike">
                <a:solidFill>
                  <a:srgbClr val="C7D2FE"/>
                </a:solidFill>
                <a:latin typeface="Play"/>
                <a:ea typeface="Play"/>
                <a:cs typeface="Play"/>
                <a:sym typeface="Play"/>
              </a:rPr>
              <a:t>Pilot results &amp; test evidence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685800" y="2788920"/>
            <a:ext cx="71323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End-to-end preprocessing, engineering checks, model comparison, signer-grouped validation, and a frozen held-out test evaluation.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275320" y="1234440"/>
            <a:ext cx="2834640" cy="3291840"/>
          </a:xfrm>
          <a:prstGeom prst="roundRect">
            <a:avLst>
              <a:gd fmla="val 2581" name="adj"/>
            </a:avLst>
          </a:prstGeom>
          <a:solidFill>
            <a:srgbClr val="111827"/>
          </a:solidFill>
          <a:ln cap="flat" cmpd="sng" w="1395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577072" y="178308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75.00%</a:t>
            </a:r>
            <a:endParaRPr b="0" i="0" sz="3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577072" y="242316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7F3D0"/>
                </a:solidFill>
                <a:latin typeface="Arial"/>
                <a:ea typeface="Arial"/>
                <a:cs typeface="Arial"/>
                <a:sym typeface="Arial"/>
              </a:rPr>
              <a:t>frozen official-test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7F3D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7F3D0"/>
                </a:solidFill>
                <a:latin typeface="Arial"/>
                <a:ea typeface="Arial"/>
                <a:cs typeface="Arial"/>
                <a:sym typeface="Arial"/>
              </a:rPr>
              <a:t>top-1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"/>
          <p:cNvCxnSpPr/>
          <p:nvPr/>
        </p:nvCxnSpPr>
        <p:spPr>
          <a:xfrm>
            <a:off x="8732520" y="3182112"/>
            <a:ext cx="1874520" cy="0"/>
          </a:xfrm>
          <a:prstGeom prst="straightConnector1">
            <a:avLst/>
          </a:prstGeom>
          <a:noFill/>
          <a:ln cap="flat" cmpd="sng" w="12700">
            <a:solidFill>
              <a:srgbClr val="47556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1"/>
          <p:cNvSpPr/>
          <p:nvPr/>
        </p:nvSpPr>
        <p:spPr>
          <a:xfrm>
            <a:off x="8577072" y="3401568"/>
            <a:ext cx="2240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388 held-out clips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32 selected classes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D1D5DB"/>
                </a:solidFill>
                <a:latin typeface="Arial"/>
                <a:ea typeface="Arial"/>
                <a:cs typeface="Arial"/>
                <a:sym typeface="Arial"/>
              </a:rPr>
              <a:t>291/388 top-1 correct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685800" y="589788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Results snapshot — 4 Oct 2026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01  Results at a glance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02920" y="786384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 pilot passed the engineering gates and produced measurable model signal, with a meaningful generalization gap.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11480" y="1078992"/>
            <a:ext cx="11365992" cy="5138928"/>
          </a:xfrm>
          <a:prstGeom prst="roundRect">
            <a:avLst>
              <a:gd fmla="val 712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sl_citizen_figures/01_scorecard.png"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24712"/>
            <a:ext cx="11274552" cy="504748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 txBox="1"/>
          <p:nvPr>
            <p:ph idx="4294967295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02  Data &amp; split integrity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502920" y="786384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 pipeline uses the official split files and preserves signer separation across train, validation, and test.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823960" y="338328"/>
            <a:ext cx="2788920" cy="658368"/>
          </a:xfrm>
          <a:prstGeom prst="roundRect">
            <a:avLst>
              <a:gd fmla="val 6944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8951976" y="448056"/>
            <a:ext cx="25328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83,399 official rows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35 / 6 / 11 signers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 overlap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411480" y="1024128"/>
            <a:ext cx="11365992" cy="5166360"/>
          </a:xfrm>
          <a:prstGeom prst="roundRect">
            <a:avLst>
              <a:gd fmla="val 70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sl_citizen_figures/02_split_integrity.png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9848"/>
            <a:ext cx="11274552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3"/>
          <p:cNvSpPr txBox="1"/>
          <p:nvPr>
            <p:ph idx="4294967295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03  Engineering correctness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02920" y="786384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22 focused automated tests passed across sampling, preprocessing, feature shards, model behavior, and handoff safety.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8823960" y="338328"/>
            <a:ext cx="2788920" cy="658368"/>
          </a:xfrm>
          <a:prstGeom prst="roundRect">
            <a:avLst>
              <a:gd fmla="val 6944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951976" y="448056"/>
            <a:ext cx="25328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22 / 22 passed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11480" y="1024128"/>
            <a:ext cx="11365992" cy="5166360"/>
          </a:xfrm>
          <a:prstGeom prst="roundRect">
            <a:avLst>
              <a:gd fmla="val 70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sl_citizen_figures/03_engineering_tests.png" id="63" name="Google Shape;6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9848"/>
            <a:ext cx="11274552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 txBox="1"/>
          <p:nvPr>
            <p:ph idx="4294967295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04  Preprocessing &amp; storage efficiency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02920" y="786384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 96-clip CPU benchmark completed successfully, and model-ready features retained only about one-quarter of raw landmark storage.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823960" y="338328"/>
            <a:ext cx="2788920" cy="658368"/>
          </a:xfrm>
          <a:prstGeom prst="roundRect">
            <a:avLst>
              <a:gd fmla="val 6944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8951976" y="448056"/>
            <a:ext cx="25328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11.40 MiB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 shards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11480" y="1024128"/>
            <a:ext cx="11365992" cy="5166360"/>
          </a:xfrm>
          <a:prstGeom prst="roundRect">
            <a:avLst>
              <a:gd fmla="val 70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sl_citizen_figures/04_extraction_storage.png" id="75" name="Google Shape;7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9848"/>
            <a:ext cx="11274552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5"/>
          <p:cNvSpPr txBox="1"/>
          <p:nvPr>
            <p:ph idx="4294967295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05  Model comparison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502920" y="786384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 temporal CNN/Transformer learned substantially more than the linear temporal-mean baseline; mild augmentation added another 2.8 pp.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8823960" y="338328"/>
            <a:ext cx="2788920" cy="658368"/>
          </a:xfrm>
          <a:prstGeom prst="roundRect">
            <a:avLst>
              <a:gd fmla="val 6944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8951976" y="448056"/>
            <a:ext cx="25328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85.71%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expanded-train mean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11480" y="1024128"/>
            <a:ext cx="11365992" cy="5166360"/>
          </a:xfrm>
          <a:prstGeom prst="roundRect">
            <a:avLst>
              <a:gd fmla="val 70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sl_citizen_figures/05_model_validation_comparison.png" id="87" name="Google Shape;8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9848"/>
            <a:ext cx="11274552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 txBox="1"/>
          <p:nvPr>
            <p:ph idx="4294967295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06  Generalization across evaluation settings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502920" y="786384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Performance falls as evaluation becomes more isolated from the training distribution; that gap is an important result, not a failure of the pipeline.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8823960" y="338328"/>
            <a:ext cx="2788920" cy="658368"/>
          </a:xfrm>
          <a:prstGeom prst="roundRect">
            <a:avLst>
              <a:gd fmla="val 6944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8951976" y="448056"/>
            <a:ext cx="25328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84.0% → 80.6% → 75.0%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Top-1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411480" y="1024128"/>
            <a:ext cx="11365992" cy="5166360"/>
          </a:xfrm>
          <a:prstGeom prst="roundRect">
            <a:avLst>
              <a:gd fmla="val 70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sl_citizen_figures/06_generalization.png" id="99" name="Google Shape;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9848"/>
            <a:ext cx="11274549" cy="507492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7"/>
          <p:cNvSpPr txBox="1"/>
          <p:nvPr>
            <p:ph idx="4294967295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07  Frozen official-test evaluation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02920" y="786384"/>
            <a:ext cx="10881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The seed-42 checkpoint was frozen before test inference and evaluated once on the selected 388 official-test clips.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8823960" y="338328"/>
            <a:ext cx="2788920" cy="658368"/>
          </a:xfrm>
          <a:prstGeom prst="roundRect">
            <a:avLst>
              <a:gd fmla="val 6944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8"/>
          <p:cNvSpPr/>
          <p:nvPr/>
        </p:nvSpPr>
        <p:spPr>
          <a:xfrm>
            <a:off x="8951976" y="448056"/>
            <a:ext cx="2532888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94.85%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Top-5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8"/>
          <p:cNvSpPr/>
          <p:nvPr/>
        </p:nvSpPr>
        <p:spPr>
          <a:xfrm>
            <a:off x="411480" y="1024128"/>
            <a:ext cx="11365992" cy="5166360"/>
          </a:xfrm>
          <a:prstGeom prst="roundRect">
            <a:avLst>
              <a:gd fmla="val 708" name="adj"/>
            </a:avLst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asl_citizen_figures/07_frozen_test.png" id="111" name="Google Shape;1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069848"/>
            <a:ext cx="11274552" cy="50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8"/>
          <p:cNvSpPr/>
          <p:nvPr/>
        </p:nvSpPr>
        <p:spPr>
          <a:xfrm>
            <a:off x="594360" y="6199632"/>
            <a:ext cx="10698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rPr>
              <a:t>Important: this is a 32-class pilot subset, not a full-dataset evaluation. The 388 test examples are considered consumed for model selection.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8"/>
          <p:cNvSpPr txBox="1"/>
          <p:nvPr>
            <p:ph idx="4294967295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/>
          <p:nvPr/>
        </p:nvSpPr>
        <p:spPr>
          <a:xfrm>
            <a:off x="502920" y="347472"/>
            <a:ext cx="7863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2400"/>
              <a:buFont typeface="Play"/>
              <a:buNone/>
            </a:pPr>
            <a:r>
              <a:rPr b="1" i="0" lang="en-US" sz="2400" u="none" cap="none" strike="noStrike">
                <a:solidFill>
                  <a:srgbClr val="0B1220"/>
                </a:solidFill>
                <a:latin typeface="Play"/>
                <a:ea typeface="Play"/>
                <a:cs typeface="Play"/>
                <a:sym typeface="Play"/>
              </a:rPr>
              <a:t>08  What the results support — and what they do not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9"/>
          <p:cNvSpPr/>
          <p:nvPr/>
        </p:nvSpPr>
        <p:spPr>
          <a:xfrm>
            <a:off x="502920" y="1325880"/>
            <a:ext cx="3154680" cy="4434840"/>
          </a:xfrm>
          <a:prstGeom prst="roundRect">
            <a:avLst>
              <a:gd fmla="val 1739" name="adj"/>
            </a:avLst>
          </a:prstGeom>
          <a:solidFill>
            <a:srgbClr val="EAF4F3"/>
          </a:solidFill>
          <a:ln cap="flat" cmpd="sng" w="1015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"/>
          <p:cNvSpPr/>
          <p:nvPr/>
        </p:nvSpPr>
        <p:spPr>
          <a:xfrm>
            <a:off x="704088" y="1572768"/>
            <a:ext cx="2752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What is supported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704088" y="2148840"/>
            <a:ext cx="2752344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The preprocessing path is reproducible and passes the focused automated checks.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The compact feature representation is materially smaller than raw landmarks.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The sequence model learns useful temporal signal.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Whole-signer validation and the frozen test both retain substantial top-1 performance.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069080" y="1325880"/>
            <a:ext cx="3154680" cy="4434840"/>
          </a:xfrm>
          <a:prstGeom prst="roundRect">
            <a:avLst>
              <a:gd fmla="val 1739" name="adj"/>
            </a:avLst>
          </a:prstGeom>
          <a:solidFill>
            <a:srgbClr val="FFF3DF"/>
          </a:solidFill>
          <a:ln cap="flat" cmpd="sng" w="1015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"/>
          <p:cNvSpPr/>
          <p:nvPr/>
        </p:nvSpPr>
        <p:spPr>
          <a:xfrm>
            <a:off x="4270248" y="1572768"/>
            <a:ext cx="2752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What remains uncertain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270248" y="2148840"/>
            <a:ext cx="2752344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The pilot covers only 32 glosses.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Official validation has just 3–5 clips per class.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Full-dataset extraction has not been completed.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Runtime projections are CPU estimates.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The signer-CV and test protocols are complementary, not statistically matched.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7635240" y="1325880"/>
            <a:ext cx="3154680" cy="4434840"/>
          </a:xfrm>
          <a:prstGeom prst="roundRect">
            <a:avLst>
              <a:gd fmla="val 1739" name="adj"/>
            </a:avLst>
          </a:prstGeom>
          <a:solidFill>
            <a:srgbClr val="EAF1FE"/>
          </a:solidFill>
          <a:ln cap="flat" cmpd="sng" w="1015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9"/>
          <p:cNvSpPr/>
          <p:nvPr/>
        </p:nvSpPr>
        <p:spPr>
          <a:xfrm>
            <a:off x="7836408" y="1572768"/>
            <a:ext cx="2752344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Best next experiment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7836408" y="2148840"/>
            <a:ext cx="2752344" cy="32461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Move to a CUDA-enabled GPU lease for scale.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Expand the vocabulary and training set.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Use more robust signer-aware validation.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Compare stronger temporal architectures and augmentation.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• Add the webcam / deployment path only after larger-scale evaluation.</a:t>
            </a:r>
            <a:endParaRPr b="0" i="0" sz="12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685800" y="5925312"/>
            <a:ext cx="10789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22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B1220"/>
                </a:solidFill>
                <a:latin typeface="Arial"/>
                <a:ea typeface="Arial"/>
                <a:cs typeface="Arial"/>
                <a:sym typeface="Arial"/>
              </a:rPr>
              <a:t>Headline: a working 32-class pilot with credible engineering evidence, meaningful learned signal, and a clear generalization gap that the next phase should address.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9"/>
          <p:cNvSpPr txBox="1"/>
          <p:nvPr>
            <p:ph idx="4294967295" type="sldNum"/>
          </p:nvPr>
        </p:nvSpPr>
        <p:spPr>
          <a:xfrm>
            <a:off x="11777472" y="6437376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2026-10-04T23:56:19Z</dcterms:created>
  <dc:creator>OpenAI</dc:creator>
</cp:coreProperties>
</file>